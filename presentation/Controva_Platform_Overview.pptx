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4937760" cy="4937760"/>
          </a:xfrm>
          <a:prstGeom prst="ellipse">
            <a:avLst/>
          </a:prstGeom>
          <a:ln w="19050">
            <a:solidFill>
              <a:srgbClr val="1B2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-914400"/>
            <a:ext cx="3474720" cy="3474720"/>
          </a:xfrm>
          <a:prstGeom prst="ellipse">
            <a:avLst/>
          </a:prstGeom>
          <a:ln w="19050">
            <a:solidFill>
              <a:srgbClr val="1B2C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194560" y="4572000"/>
            <a:ext cx="4572000" cy="4572000"/>
          </a:xfrm>
          <a:prstGeom prst="ellipse">
            <a:avLst/>
          </a:prstGeom>
          <a:ln w="19050">
            <a:solidFill>
              <a:srgbClr val="1B2C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051560"/>
            <a:ext cx="960120" cy="960120"/>
          </a:xfrm>
          <a:prstGeom prst="roundRect">
            <a:avLst>
              <a:gd name="adj" fmla="val 20952"/>
            </a:avLst>
          </a:prstGeom>
          <a:solidFill>
            <a:srgbClr val="9B6B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33272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CONTROVA INTELLIGENCE PLATFORM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Find. Enrich. Close.
</a:t>
            </a:r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 replaces the stack.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77240" y="470916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lead generation, buyer-intent signals, and e-commerce product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— self-hosted on your own server.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&amp; Client Overview  ·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teams pay seven times for one job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12080" cy="4617720"/>
          </a:xfrm>
          <a:prstGeom prst="roundRect">
            <a:avLst>
              <a:gd name="adj" fmla="val 1782"/>
            </a:avLst>
          </a:prstGeom>
          <a:solidFill>
            <a:srgbClr val="15233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typical 10-person team's monthly stack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762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Apollo.io   </a:t>
            </a:r>
            <a:pPr indent="0" marL="0">
              <a:buNone/>
            </a:pPr>
            <a:r>
              <a:rPr lang="en-US" sz="12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data &amp; prospecting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0" y="217627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$99/mo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5786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Hunter.io   </a:t>
            </a:r>
            <a:pPr indent="0" marL="0">
              <a:buNone/>
            </a:pPr>
            <a:r>
              <a:rPr lang="en-US" sz="12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finding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0" y="257860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$99/mo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298094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Semrush   </a:t>
            </a:r>
            <a:pPr indent="0" marL="0">
              <a:buNone/>
            </a:pPr>
            <a:r>
              <a:rPr lang="en-US" sz="12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&amp; competitor intel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0" y="2980944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$119/mo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3383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SimilarWeb   </a:t>
            </a:r>
            <a:pPr indent="0" marL="0">
              <a:buNone/>
            </a:pPr>
            <a:r>
              <a:rPr lang="en-US" sz="12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&amp; traffic data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0" y="33832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$149/mo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378561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Lemlist   </a:t>
            </a:r>
            <a:pPr indent="0" marL="0">
              <a:buNone/>
            </a:pPr>
            <a:r>
              <a:rPr lang="en-US" sz="12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outreach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0" y="378561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$129/mo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68680" y="41879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Navigator   </a:t>
            </a:r>
            <a:pPr indent="0" marL="0">
              <a:buNone/>
            </a:pPr>
            <a:r>
              <a:rPr lang="en-US" sz="12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prospecting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0" y="418795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$79/mo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8680" y="45902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Jungle Scout / Helium 10   </a:t>
            </a:r>
            <a:pPr indent="0" marL="0">
              <a:buNone/>
            </a:pPr>
            <a:r>
              <a:rPr lang="en-US" sz="12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research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0" y="459028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$49+/mo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68680" y="5074920"/>
            <a:ext cx="4572000" cy="0"/>
          </a:xfrm>
          <a:prstGeom prst="line">
            <a:avLst/>
          </a:prstGeom>
          <a:noFill/>
          <a:ln w="12700">
            <a:solidFill>
              <a:srgbClr val="2A3B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1937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743200" y="519379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$723+ / month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68680" y="57150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published pricing, mid-2026. Per-seat plans grow with headcount.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1554480"/>
            <a:ext cx="5623560" cy="1097280"/>
          </a:xfrm>
          <a:prstGeom prst="roundRect">
            <a:avLst>
              <a:gd name="adj" fmla="val 7500"/>
            </a:avLst>
          </a:prstGeom>
          <a:solidFill>
            <a:srgbClr val="15233F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0" y="1847088"/>
            <a:ext cx="502920" cy="502920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1828800"/>
            <a:ext cx="685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95160" y="1682496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don't talk to each other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995160" y="1993392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copy-pastes leads between seven tabs — discovery in one tool, emails in another, tracking in a spreadsheet.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35040" y="2788920"/>
            <a:ext cx="5623560" cy="1097280"/>
          </a:xfrm>
          <a:prstGeom prst="roundRect">
            <a:avLst>
              <a:gd name="adj" fmla="val 7500"/>
            </a:avLst>
          </a:prstGeom>
          <a:solidFill>
            <a:srgbClr val="15233F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9360" y="3081528"/>
            <a:ext cx="502920" cy="502920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3063240"/>
            <a:ext cx="685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95160" y="2916936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scales against you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995160" y="3227832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Per-seat and per-lead billing means the better you do, the more you pay.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035040" y="4023360"/>
            <a:ext cx="5623560" cy="1097280"/>
          </a:xfrm>
          <a:prstGeom prst="roundRect">
            <a:avLst>
              <a:gd name="adj" fmla="val 7500"/>
            </a:avLst>
          </a:prstGeom>
          <a:solidFill>
            <a:srgbClr val="15233F"/>
          </a:solidFill>
          <a:ln/>
        </p:spPr>
      </p:sp>
      <p:sp>
        <p:nvSpPr>
          <p:cNvPr id="35" name="Shape 33"/>
          <p:cNvSpPr/>
          <p:nvPr/>
        </p:nvSpPr>
        <p:spPr>
          <a:xfrm>
            <a:off x="6309360" y="4315968"/>
            <a:ext cx="502920" cy="502920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36" name="Text 34"/>
          <p:cNvSpPr/>
          <p:nvPr/>
        </p:nvSpPr>
        <p:spPr>
          <a:xfrm>
            <a:off x="6217920" y="4297680"/>
            <a:ext cx="685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95160" y="4151376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rent the data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6995160" y="4462272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any subscription and everything you built inside it is gone.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035040" y="5303520"/>
            <a:ext cx="5623560" cy="868680"/>
          </a:xfrm>
          <a:prstGeom prst="roundRect">
            <a:avLst>
              <a:gd name="adj" fmla="val 9474"/>
            </a:avLst>
          </a:prstGeom>
          <a:solidFill>
            <a:srgbClr val="1C2D52"/>
          </a:solidFill>
          <a:ln/>
        </p:spPr>
      </p:sp>
      <p:sp>
        <p:nvSpPr>
          <p:cNvPr id="40" name="Text 38"/>
          <p:cNvSpPr/>
          <p:nvPr/>
        </p:nvSpPr>
        <p:spPr>
          <a:xfrm>
            <a:off x="6355080" y="530352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$8,600+ a year</a:t>
            </a:r>
            <a:pPr indent="0" marL="0">
              <a:buNone/>
            </a:pPr>
            <a:r>
              <a:rPr lang="en-US" sz="130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before anyone sends a single email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Controva Intelligence Platform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43000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self-hosted platform. Every growth signal.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Controva runs on your own server and puts discovery, intelligence, and outreach in a single dashboard —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AI, billed at API cost.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679192" cy="3200400"/>
          </a:xfrm>
          <a:prstGeom prst="roundRect">
            <a:avLst>
              <a:gd name="adj" fmla="val 3072"/>
            </a:avLst>
          </a:prstGeom>
          <a:solidFill>
            <a:srgbClr val="15233F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31720"/>
            <a:ext cx="566928" cy="566928"/>
          </a:xfrm>
          <a:prstGeom prst="ellipse">
            <a:avLst/>
          </a:prstGeom>
          <a:solidFill>
            <a:srgbClr val="3E8B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313432"/>
            <a:ext cx="74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4672" y="30632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Generation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3703320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ts val="1700"/>
              </a:lnSpc>
              <a:buSzPct val="100000"/>
              <a:buChar char="•"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Natural-language search, worldwide</a:t>
            </a:r>
            <a:endParaRPr lang="en-US" sz="1150" dirty="0"/>
          </a:p>
          <a:p>
            <a:pPr marL="127000" indent="-127000">
              <a:lnSpc>
                <a:spcPts val="1700"/>
              </a:lnSpc>
              <a:buSzPct val="100000"/>
              <a:buChar char="•"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discovery sources, deduplicated</a:t>
            </a:r>
            <a:endParaRPr lang="en-US" sz="1150" dirty="0"/>
          </a:p>
          <a:p>
            <a:pPr marL="127000" indent="-127000">
              <a:lnSpc>
                <a:spcPts val="1700"/>
              </a:lnSpc>
              <a:buSzPct val="100000"/>
              <a:buChar char="•"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 website” hot-lead filtering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10712" y="2057400"/>
            <a:ext cx="2679192" cy="3200400"/>
          </a:xfrm>
          <a:prstGeom prst="roundRect">
            <a:avLst>
              <a:gd name="adj" fmla="val 3072"/>
            </a:avLst>
          </a:prstGeom>
          <a:solidFill>
            <a:srgbClr val="15233F"/>
          </a:solidFill>
          <a:ln/>
        </p:spPr>
      </p:sp>
      <p:sp>
        <p:nvSpPr>
          <p:cNvPr id="11" name="Shape 9"/>
          <p:cNvSpPr/>
          <p:nvPr/>
        </p:nvSpPr>
        <p:spPr>
          <a:xfrm>
            <a:off x="3685032" y="2331720"/>
            <a:ext cx="566928" cy="566928"/>
          </a:xfrm>
          <a:prstGeom prst="ellipse">
            <a:avLst/>
          </a:prstGeom>
          <a:solidFill>
            <a:srgbClr val="9B6BFF"/>
          </a:solidFill>
          <a:ln/>
        </p:spPr>
      </p:sp>
      <p:sp>
        <p:nvSpPr>
          <p:cNvPr id="12" name="Text 10"/>
          <p:cNvSpPr/>
          <p:nvPr/>
        </p:nvSpPr>
        <p:spPr>
          <a:xfrm>
            <a:off x="3593592" y="2313432"/>
            <a:ext cx="74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66744" y="30632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Search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66744" y="3703320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ts val="1700"/>
              </a:lnSpc>
              <a:buSzPct val="100000"/>
              <a:buChar char="•"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buyers actively asking</a:t>
            </a:r>
            <a:endParaRPr lang="en-US" sz="1150" dirty="0"/>
          </a:p>
          <a:p>
            <a:pPr marL="127000" indent="-127000">
              <a:lnSpc>
                <a:spcPts val="1700"/>
              </a:lnSpc>
              <a:buSzPct val="100000"/>
              <a:buChar char="•"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providers offering services</a:t>
            </a:r>
            <a:endParaRPr lang="en-US" sz="1150" dirty="0"/>
          </a:p>
          <a:p>
            <a:pPr marL="127000" indent="-127000">
              <a:lnSpc>
                <a:spcPts val="1700"/>
              </a:lnSpc>
              <a:buSzPct val="100000"/>
              <a:buChar char="•"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live sources, AI-classified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72784" y="2057400"/>
            <a:ext cx="2679192" cy="3200400"/>
          </a:xfrm>
          <a:prstGeom prst="roundRect">
            <a:avLst>
              <a:gd name="adj" fmla="val 3072"/>
            </a:avLst>
          </a:prstGeom>
          <a:solidFill>
            <a:srgbClr val="15233F"/>
          </a:solidFill>
          <a:ln/>
        </p:spPr>
      </p:sp>
      <p:sp>
        <p:nvSpPr>
          <p:cNvPr id="16" name="Shape 14"/>
          <p:cNvSpPr/>
          <p:nvPr/>
        </p:nvSpPr>
        <p:spPr>
          <a:xfrm>
            <a:off x="6547104" y="2331720"/>
            <a:ext cx="566928" cy="5669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55664" y="2313432"/>
            <a:ext cx="74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28816" y="30632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Intelligence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28816" y="3703320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ts val="1700"/>
              </a:lnSpc>
              <a:buSzPct val="100000"/>
              <a:buChar char="•"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product hunter for eBay/Amazon</a:t>
            </a:r>
            <a:endParaRPr lang="en-US" sz="1150" dirty="0"/>
          </a:p>
          <a:p>
            <a:pPr marL="127000" indent="-127000">
              <a:lnSpc>
                <a:spcPts val="1700"/>
              </a:lnSpc>
              <a:buSzPct val="100000"/>
              <a:buChar char="•"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eBay sold-price data</a:t>
            </a:r>
            <a:endParaRPr lang="en-US" sz="1150" dirty="0"/>
          </a:p>
          <a:p>
            <a:pPr marL="127000" indent="-127000">
              <a:lnSpc>
                <a:spcPts val="1700"/>
              </a:lnSpc>
              <a:buSzPct val="100000"/>
              <a:buChar char="•"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result verified live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34856" y="2057400"/>
            <a:ext cx="2679192" cy="3200400"/>
          </a:xfrm>
          <a:prstGeom prst="roundRect">
            <a:avLst>
              <a:gd name="adj" fmla="val 3072"/>
            </a:avLst>
          </a:prstGeom>
          <a:solidFill>
            <a:srgbClr val="15233F"/>
          </a:solidFill>
          <a:ln/>
        </p:spPr>
      </p:sp>
      <p:sp>
        <p:nvSpPr>
          <p:cNvPr id="21" name="Shape 19"/>
          <p:cNvSpPr/>
          <p:nvPr/>
        </p:nvSpPr>
        <p:spPr>
          <a:xfrm>
            <a:off x="9409176" y="2331720"/>
            <a:ext cx="566928" cy="566928"/>
          </a:xfrm>
          <a:prstGeom prst="ellipse">
            <a:avLst/>
          </a:prstGeom>
          <a:solidFill>
            <a:srgbClr val="2ED47F"/>
          </a:solidFill>
          <a:ln/>
        </p:spPr>
      </p:sp>
      <p:sp>
        <p:nvSpPr>
          <p:cNvPr id="22" name="Text 20"/>
          <p:cNvSpPr/>
          <p:nvPr/>
        </p:nvSpPr>
        <p:spPr>
          <a:xfrm>
            <a:off x="9317736" y="2313432"/>
            <a:ext cx="74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390888" y="30632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Outreach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90888" y="3703320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ts val="1700"/>
              </a:lnSpc>
              <a:buSzPct val="100000"/>
              <a:buChar char="•"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emails found automatically</a:t>
            </a:r>
            <a:endParaRPr lang="en-US" sz="1150" dirty="0"/>
          </a:p>
          <a:p>
            <a:pPr marL="127000" indent="-127000">
              <a:lnSpc>
                <a:spcPts val="1700"/>
              </a:lnSpc>
              <a:buSzPct val="100000"/>
              <a:buChar char="•"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writes personal copy</a:t>
            </a:r>
            <a:endParaRPr lang="en-US" sz="1150" dirty="0"/>
          </a:p>
          <a:p>
            <a:pPr marL="127000" indent="-127000">
              <a:lnSpc>
                <a:spcPts val="1700"/>
              </a:lnSpc>
              <a:buSzPct val="100000"/>
              <a:buChar char="•"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Approve, send, track replies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532120"/>
            <a:ext cx="11091672" cy="685800"/>
          </a:xfrm>
          <a:prstGeom prst="roundRect">
            <a:avLst>
              <a:gd name="adj" fmla="val 12000"/>
            </a:avLst>
          </a:prstGeom>
          <a:solidFill>
            <a:srgbClr val="1C2D52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5321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server  </a:t>
            </a:r>
            <a:pPr indent="0" marL="0">
              <a:buNone/>
            </a:pPr>
            <a:r>
              <a:rPr lang="en-US" sz="140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One dashboard  •  12+ modules  •  </a:t>
            </a:r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users, unlimited leads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Controva Intelligence Platform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plain-English search to a signed client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764792" cy="2560320"/>
          </a:xfrm>
          <a:prstGeom prst="roundRect">
            <a:avLst>
              <a:gd name="adj" fmla="val 4663"/>
            </a:avLst>
          </a:prstGeom>
          <a:solidFill>
            <a:srgbClr val="15233F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2176272"/>
            <a:ext cx="502920" cy="502920"/>
          </a:xfrm>
          <a:prstGeom prst="ellipse">
            <a:avLst/>
          </a:prstGeom>
          <a:solidFill>
            <a:srgbClr val="3E8BF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2157984"/>
            <a:ext cx="685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8346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9808" y="3182112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“laundry shops in Dubai” — AI parses it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58568" y="292608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496312" y="1920240"/>
            <a:ext cx="1764792" cy="2560320"/>
          </a:xfrm>
          <a:prstGeom prst="roundRect">
            <a:avLst>
              <a:gd name="adj" fmla="val 4663"/>
            </a:avLst>
          </a:prstGeom>
          <a:solidFill>
            <a:srgbClr val="15233F"/>
          </a:solidFill>
          <a:ln/>
        </p:spPr>
      </p:sp>
      <p:sp>
        <p:nvSpPr>
          <p:cNvPr id="11" name="Shape 9"/>
          <p:cNvSpPr/>
          <p:nvPr/>
        </p:nvSpPr>
        <p:spPr>
          <a:xfrm>
            <a:off x="2715768" y="2176272"/>
            <a:ext cx="502920" cy="502920"/>
          </a:xfrm>
          <a:prstGeom prst="ellipse">
            <a:avLst/>
          </a:prstGeom>
          <a:solidFill>
            <a:srgbClr val="3E8BFF"/>
          </a:solidFill>
          <a:ln/>
        </p:spPr>
      </p:sp>
      <p:sp>
        <p:nvSpPr>
          <p:cNvPr id="12" name="Text 10"/>
          <p:cNvSpPr/>
          <p:nvPr/>
        </p:nvSpPr>
        <p:spPr>
          <a:xfrm>
            <a:off x="2624328" y="2157984"/>
            <a:ext cx="685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697480" y="28346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697480" y="3182112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businesses with no website — hottest prospects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06240" y="292608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443984" y="1920240"/>
            <a:ext cx="1764792" cy="2560320"/>
          </a:xfrm>
          <a:prstGeom prst="roundRect">
            <a:avLst>
              <a:gd name="adj" fmla="val 4663"/>
            </a:avLst>
          </a:prstGeom>
          <a:solidFill>
            <a:srgbClr val="15233F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3440" y="2176272"/>
            <a:ext cx="502920" cy="502920"/>
          </a:xfrm>
          <a:prstGeom prst="ellipse">
            <a:avLst/>
          </a:prstGeom>
          <a:solidFill>
            <a:srgbClr val="9B6BF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2157984"/>
            <a:ext cx="685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645152" y="28346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645152" y="3182112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emails found via search + site scraping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53912" y="292608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391656" y="1920240"/>
            <a:ext cx="1764792" cy="2560320"/>
          </a:xfrm>
          <a:prstGeom prst="roundRect">
            <a:avLst>
              <a:gd name="adj" fmla="val 4663"/>
            </a:avLst>
          </a:prstGeom>
          <a:solidFill>
            <a:srgbClr val="15233F"/>
          </a:solidFill>
          <a:ln/>
        </p:spPr>
      </p:sp>
      <p:sp>
        <p:nvSpPr>
          <p:cNvPr id="23" name="Shape 21"/>
          <p:cNvSpPr/>
          <p:nvPr/>
        </p:nvSpPr>
        <p:spPr>
          <a:xfrm>
            <a:off x="6611112" y="2176272"/>
            <a:ext cx="502920" cy="502920"/>
          </a:xfrm>
          <a:prstGeom prst="ellipse">
            <a:avLst/>
          </a:prstGeom>
          <a:solidFill>
            <a:srgbClr val="9B6BFF"/>
          </a:solidFill>
          <a:ln/>
        </p:spPr>
      </p:sp>
      <p:sp>
        <p:nvSpPr>
          <p:cNvPr id="24" name="Text 22"/>
          <p:cNvSpPr/>
          <p:nvPr/>
        </p:nvSpPr>
        <p:spPr>
          <a:xfrm>
            <a:off x="6519672" y="2157984"/>
            <a:ext cx="685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592824" y="28346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592824" y="3182112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rates every lead 1–10 with reasoning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101584" y="292608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339328" y="1920240"/>
            <a:ext cx="1764792" cy="2560320"/>
          </a:xfrm>
          <a:prstGeom prst="roundRect">
            <a:avLst>
              <a:gd name="adj" fmla="val 4663"/>
            </a:avLst>
          </a:prstGeom>
          <a:solidFill>
            <a:srgbClr val="15233F"/>
          </a:solidFill>
          <a:ln/>
        </p:spPr>
      </p:sp>
      <p:sp>
        <p:nvSpPr>
          <p:cNvPr id="29" name="Shape 27"/>
          <p:cNvSpPr/>
          <p:nvPr/>
        </p:nvSpPr>
        <p:spPr>
          <a:xfrm>
            <a:off x="8558784" y="2176272"/>
            <a:ext cx="502920" cy="5029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0" name="Text 28"/>
          <p:cNvSpPr/>
          <p:nvPr/>
        </p:nvSpPr>
        <p:spPr>
          <a:xfrm>
            <a:off x="8467344" y="2157984"/>
            <a:ext cx="685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540496" y="28346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540496" y="3182112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drafts a personalized email + AI mockup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049256" y="292608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0287000" y="1920240"/>
            <a:ext cx="1764792" cy="2560320"/>
          </a:xfrm>
          <a:prstGeom prst="roundRect">
            <a:avLst>
              <a:gd name="adj" fmla="val 4663"/>
            </a:avLst>
          </a:prstGeom>
          <a:solidFill>
            <a:srgbClr val="15233F"/>
          </a:solidFill>
          <a:ln/>
        </p:spPr>
      </p:sp>
      <p:sp>
        <p:nvSpPr>
          <p:cNvPr id="35" name="Shape 33"/>
          <p:cNvSpPr/>
          <p:nvPr/>
        </p:nvSpPr>
        <p:spPr>
          <a:xfrm>
            <a:off x="10506456" y="2176272"/>
            <a:ext cx="502920" cy="502920"/>
          </a:xfrm>
          <a:prstGeom prst="ellipse">
            <a:avLst/>
          </a:prstGeom>
          <a:solidFill>
            <a:srgbClr val="2ED47F"/>
          </a:solidFill>
          <a:ln/>
        </p:spPr>
      </p:sp>
      <p:sp>
        <p:nvSpPr>
          <p:cNvPr id="36" name="Text 34"/>
          <p:cNvSpPr/>
          <p:nvPr/>
        </p:nvSpPr>
        <p:spPr>
          <a:xfrm>
            <a:off x="10415016" y="2157984"/>
            <a:ext cx="685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0488168" y="28346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10488168" y="3182112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approve — opens &amp; replies tracked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489204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1C2D52"/>
          </a:solidFill>
          <a:ln/>
        </p:spPr>
      </p:sp>
      <p:sp>
        <p:nvSpPr>
          <p:cNvPr id="40" name="Text 38"/>
          <p:cNvSpPr/>
          <p:nvPr/>
        </p:nvSpPr>
        <p:spPr>
          <a:xfrm>
            <a:off x="868680" y="5074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RUN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68680" y="5394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“commercial general contractors in Denver”  →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 businesses found  →  55 owner emails  →  scored &amp; drafted  →  outreach queue ready the same afternoon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Controva Intelligence Platform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43000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· LEAD GENERATION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businesses that need you — before they look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55064"/>
            <a:ext cx="457200" cy="457200"/>
          </a:xfrm>
          <a:prstGeom prst="ellipse">
            <a:avLst/>
          </a:prstGeom>
          <a:solidFill>
            <a:srgbClr val="3E8B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36776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Plain-English search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929384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“Solar installers in Austin” — AI turns it into a structured, geo-coded query. Works worldwide, any niche.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3E8B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52344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715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sources, one list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3044952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Places, OpenStreetMap and HERE Maps — merged and deduplicated by phone and domain.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rgbClr val="3E8B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867912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83133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“no website” goldmine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41605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to businesses with no (or dead) website, verified by live HTTP checks — your hottest prospects.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01768"/>
            <a:ext cx="457200" cy="457200"/>
          </a:xfrm>
          <a:prstGeom prst="ellipse">
            <a:avLst/>
          </a:prstGeom>
          <a:solidFill>
            <a:srgbClr val="3E8B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983480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494690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volume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527608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progress, Find More rounds, batch delete, multi-select, one-click CSV.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75120" y="1691640"/>
            <a:ext cx="4983480" cy="3108960"/>
          </a:xfrm>
          <a:prstGeom prst="roundRect">
            <a:avLst>
              <a:gd name="adj" fmla="val 2647"/>
            </a:avLst>
          </a:prstGeom>
          <a:solidFill>
            <a:srgbClr val="15233F"/>
          </a:solidFill>
          <a:ln/>
        </p:spPr>
      </p:sp>
      <p:sp>
        <p:nvSpPr>
          <p:cNvPr id="21" name="Text 19"/>
          <p:cNvSpPr/>
          <p:nvPr/>
        </p:nvSpPr>
        <p:spPr>
          <a:xfrm>
            <a:off x="6995160" y="19202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LEAD LOOKS LIKE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95160" y="22402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Burke Builders, LLC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95160" y="263347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contractor · Denver, US · ★ 4.7 (89 reviews)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995160" y="3063240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1C2D52"/>
          </a:solidFill>
          <a:ln w="12700">
            <a:solidFill>
              <a:srgbClr val="F16A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3063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WEBSITE — VERIFIED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95160" y="3538728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1C2D52"/>
          </a:solidFill>
          <a:ln w="12700">
            <a:solidFill>
              <a:srgbClr val="2ED47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35387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D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EMAIL FOUND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95160" y="4014216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1C2D52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5160" y="401421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SCORE 8/10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92640" y="31089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“Strong reviews, established 12+ years, zero web presence — high fit for a website pitch.”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75120" y="5029200"/>
            <a:ext cx="4983480" cy="1097280"/>
          </a:xfrm>
          <a:prstGeom prst="roundRect">
            <a:avLst>
              <a:gd name="adj" fmla="val 7500"/>
            </a:avLst>
          </a:prstGeom>
          <a:solidFill>
            <a:srgbClr val="1C2D52"/>
          </a:solidFill>
          <a:ln/>
        </p:spPr>
      </p:sp>
      <p:sp>
        <p:nvSpPr>
          <p:cNvPr id="32" name="Text 30"/>
          <p:cNvSpPr/>
          <p:nvPr/>
        </p:nvSpPr>
        <p:spPr>
          <a:xfrm>
            <a:off x="6967728" y="5029200"/>
            <a:ext cx="4434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lead is stored in 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database — searchable, filterable, exportable. No per-lead fees, ever.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Controva Intelligence Platform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· AI PIPELINE &amp; OUTREACH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follow-through most tools leave to you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55064"/>
            <a:ext cx="457200" cy="457200"/>
          </a:xfrm>
          <a:prstGeom prst="ellipse">
            <a:avLst/>
          </a:prstGeom>
          <a:solidFill>
            <a:srgbClr val="9B6B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36776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discovery that layers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929384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search first, self-hosted site scraping second, premium scraping only as a fallback — cost-ordered automatically.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9B6B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52344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715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with reasons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3044952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rates each lead 1–10 and writes out why — reviews, longevity, web presence — so your team trusts the queue.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rgbClr val="9B6B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867912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83133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written per lead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41605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drafts a personal subject + body for each business. Optional AI-generated website mockup attached.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01768"/>
            <a:ext cx="457200" cy="457200"/>
          </a:xfrm>
          <a:prstGeom prst="ellipse">
            <a:avLst/>
          </a:prstGeom>
          <a:solidFill>
            <a:srgbClr val="9B6B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983480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494690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Human-approved sending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527608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sends until you approve. Edit, regenerate, or reject — then track opens and replies.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75120" y="1691640"/>
            <a:ext cx="4983480" cy="3063240"/>
          </a:xfrm>
          <a:prstGeom prst="roundRect">
            <a:avLst>
              <a:gd name="adj" fmla="val 2687"/>
            </a:avLst>
          </a:prstGeom>
          <a:solidFill>
            <a:srgbClr val="15233F"/>
          </a:solidFill>
          <a:ln/>
        </p:spPr>
      </p:sp>
      <p:sp>
        <p:nvSpPr>
          <p:cNvPr id="21" name="Text 19"/>
          <p:cNvSpPr/>
          <p:nvPr/>
        </p:nvSpPr>
        <p:spPr>
          <a:xfrm>
            <a:off x="6995160" y="190195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AI-DRAFTED, HUMAN-APPROVED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95160" y="221284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To: owner@burkebuilders-denver.com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95160" y="246888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Subject: A homepage mockup we built for Burke Builders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95160" y="292608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“Hi — your 4.7-star rating came up when we researched Denver contractors, but we noticed you don't have a website. We took the liberty of sketching what one could look like…”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995160" y="397764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1C2D52"/>
          </a:solidFill>
          <a:ln w="12700">
            <a:solidFill>
              <a:srgbClr val="2ED47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39776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D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&amp; SEND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915400" y="397764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1C2D52"/>
          </a:solidFill>
          <a:ln w="12700">
            <a:solidFill>
              <a:srgbClr val="96A5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15400" y="39776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058400" y="397764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1C2D52"/>
          </a:solidFill>
          <a:ln w="12700">
            <a:solidFill>
              <a:srgbClr val="F16A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0" y="39776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75120" y="5029200"/>
            <a:ext cx="4983480" cy="1097280"/>
          </a:xfrm>
          <a:prstGeom prst="roundRect">
            <a:avLst>
              <a:gd name="adj" fmla="val 7500"/>
            </a:avLst>
          </a:prstGeom>
          <a:solidFill>
            <a:srgbClr val="1C2D52"/>
          </a:solidFill>
          <a:ln/>
        </p:spPr>
      </p:sp>
      <p:sp>
        <p:nvSpPr>
          <p:cNvPr id="32" name="Text 30"/>
          <p:cNvSpPr/>
          <p:nvPr/>
        </p:nvSpPr>
        <p:spPr>
          <a:xfrm>
            <a:off x="6967728" y="502920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tracked end to end: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discovered → enriched → scored → ready → sent → replied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Controva Intelligence Platform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· INTENT SEARCH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demand the moment it's posted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1554480"/>
          </a:xfrm>
          <a:prstGeom prst="roundRect">
            <a:avLst>
              <a:gd name="adj" fmla="val 5294"/>
            </a:avLst>
          </a:prstGeom>
          <a:solidFill>
            <a:srgbClr val="15233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56232"/>
            <a:ext cx="685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7830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— find buyers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121408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and companies actively posting “we're hiring a…” or “looking for a…” — caught while the need is live.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94960" cy="1554480"/>
          </a:xfrm>
          <a:prstGeom prst="roundRect">
            <a:avLst>
              <a:gd name="adj" fmla="val 5294"/>
            </a:avLst>
          </a:prstGeom>
          <a:solidFill>
            <a:srgbClr val="15233F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1874520"/>
            <a:ext cx="502920" cy="502920"/>
          </a:xfrm>
          <a:prstGeom prst="ellipse">
            <a:avLst/>
          </a:prstGeom>
          <a:solidFill>
            <a:srgbClr val="2ED47F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56232"/>
            <a:ext cx="685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23760" y="1783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— find providers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2121408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Freelancers and agencies offering a service — for recruiting, partnerships, or competitor mapping.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3429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LIVE SOURCES, ONE QUERY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767328"/>
            <a:ext cx="1230782" cy="365760"/>
          </a:xfrm>
          <a:prstGeom prst="roundRect">
            <a:avLst>
              <a:gd name="adj" fmla="val 50000"/>
            </a:avLst>
          </a:prstGeom>
          <a:solidFill>
            <a:srgbClr val="15233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767328"/>
            <a:ext cx="12307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Jobs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944014" y="3767328"/>
            <a:ext cx="1530706" cy="365760"/>
          </a:xfrm>
          <a:prstGeom prst="roundRect">
            <a:avLst>
              <a:gd name="adj" fmla="val 50000"/>
            </a:avLst>
          </a:prstGeom>
          <a:solidFill>
            <a:srgbClr val="15233F"/>
          </a:solidFill>
          <a:ln/>
        </p:spPr>
      </p:sp>
      <p:sp>
        <p:nvSpPr>
          <p:cNvPr id="18" name="Text 16"/>
          <p:cNvSpPr/>
          <p:nvPr/>
        </p:nvSpPr>
        <p:spPr>
          <a:xfrm>
            <a:off x="1944014" y="3767328"/>
            <a:ext cx="15307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Profiles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39312" y="3767328"/>
            <a:ext cx="705917" cy="365760"/>
          </a:xfrm>
          <a:prstGeom prst="roundRect">
            <a:avLst>
              <a:gd name="adj" fmla="val 50000"/>
            </a:avLst>
          </a:prstGeom>
          <a:solidFill>
            <a:srgbClr val="15233F"/>
          </a:solidFill>
          <a:ln/>
        </p:spPr>
      </p:sp>
      <p:sp>
        <p:nvSpPr>
          <p:cNvPr id="20" name="Text 18"/>
          <p:cNvSpPr/>
          <p:nvPr/>
        </p:nvSpPr>
        <p:spPr>
          <a:xfrm>
            <a:off x="3639312" y="3767328"/>
            <a:ext cx="7059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09821" y="3767328"/>
            <a:ext cx="705917" cy="365760"/>
          </a:xfrm>
          <a:prstGeom prst="roundRect">
            <a:avLst>
              <a:gd name="adj" fmla="val 50000"/>
            </a:avLst>
          </a:prstGeom>
          <a:solidFill>
            <a:srgbClr val="15233F"/>
          </a:solidFill>
          <a:ln/>
        </p:spPr>
      </p:sp>
      <p:sp>
        <p:nvSpPr>
          <p:cNvPr id="22" name="Text 20"/>
          <p:cNvSpPr/>
          <p:nvPr/>
        </p:nvSpPr>
        <p:spPr>
          <a:xfrm>
            <a:off x="4509821" y="3767328"/>
            <a:ext cx="7059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Upwork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80330" y="3767328"/>
            <a:ext cx="705917" cy="365760"/>
          </a:xfrm>
          <a:prstGeom prst="roundRect">
            <a:avLst>
              <a:gd name="adj" fmla="val 50000"/>
            </a:avLst>
          </a:prstGeom>
          <a:solidFill>
            <a:srgbClr val="15233F"/>
          </a:solidFill>
          <a:ln/>
        </p:spPr>
      </p:sp>
      <p:sp>
        <p:nvSpPr>
          <p:cNvPr id="24" name="Text 22"/>
          <p:cNvSpPr/>
          <p:nvPr/>
        </p:nvSpPr>
        <p:spPr>
          <a:xfrm>
            <a:off x="5380330" y="3767328"/>
            <a:ext cx="7059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Fiverr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50838" y="3767328"/>
            <a:ext cx="705917" cy="365760"/>
          </a:xfrm>
          <a:prstGeom prst="roundRect">
            <a:avLst>
              <a:gd name="adj" fmla="val 50000"/>
            </a:avLst>
          </a:prstGeom>
          <a:solidFill>
            <a:srgbClr val="15233F"/>
          </a:solidFill>
          <a:ln/>
        </p:spPr>
      </p:sp>
      <p:sp>
        <p:nvSpPr>
          <p:cNvPr id="26" name="Text 24"/>
          <p:cNvSpPr/>
          <p:nvPr/>
        </p:nvSpPr>
        <p:spPr>
          <a:xfrm>
            <a:off x="6250838" y="3767328"/>
            <a:ext cx="7059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Toptal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121347" y="3767328"/>
            <a:ext cx="705917" cy="365760"/>
          </a:xfrm>
          <a:prstGeom prst="roundRect">
            <a:avLst>
              <a:gd name="adj" fmla="val 50000"/>
            </a:avLst>
          </a:prstGeom>
          <a:solidFill>
            <a:srgbClr val="15233F"/>
          </a:solidFill>
          <a:ln/>
        </p:spPr>
      </p:sp>
      <p:sp>
        <p:nvSpPr>
          <p:cNvPr id="28" name="Text 26"/>
          <p:cNvSpPr/>
          <p:nvPr/>
        </p:nvSpPr>
        <p:spPr>
          <a:xfrm>
            <a:off x="7121347" y="3767328"/>
            <a:ext cx="7059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991856" y="3767328"/>
            <a:ext cx="705917" cy="365760"/>
          </a:xfrm>
          <a:prstGeom prst="roundRect">
            <a:avLst>
              <a:gd name="adj" fmla="val 50000"/>
            </a:avLst>
          </a:prstGeom>
          <a:solidFill>
            <a:srgbClr val="15233F"/>
          </a:solidFill>
          <a:ln/>
        </p:spPr>
      </p:sp>
      <p:sp>
        <p:nvSpPr>
          <p:cNvPr id="30" name="Text 28"/>
          <p:cNvSpPr/>
          <p:nvPr/>
        </p:nvSpPr>
        <p:spPr>
          <a:xfrm>
            <a:off x="7991856" y="3767328"/>
            <a:ext cx="7059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862365" y="376732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5233F"/>
          </a:solidFill>
          <a:ln/>
        </p:spPr>
      </p:sp>
      <p:sp>
        <p:nvSpPr>
          <p:cNvPr id="32" name="Text 30"/>
          <p:cNvSpPr/>
          <p:nvPr/>
        </p:nvSpPr>
        <p:spPr>
          <a:xfrm>
            <a:off x="8862365" y="37673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Craigslist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032797" y="3767328"/>
            <a:ext cx="1080821" cy="365760"/>
          </a:xfrm>
          <a:prstGeom prst="roundRect">
            <a:avLst>
              <a:gd name="adj" fmla="val 50000"/>
            </a:avLst>
          </a:prstGeom>
          <a:solidFill>
            <a:srgbClr val="15233F"/>
          </a:solidFill>
          <a:ln/>
        </p:spPr>
      </p:sp>
      <p:sp>
        <p:nvSpPr>
          <p:cNvPr id="34" name="Text 32"/>
          <p:cNvSpPr/>
          <p:nvPr/>
        </p:nvSpPr>
        <p:spPr>
          <a:xfrm>
            <a:off x="10032797" y="3767328"/>
            <a:ext cx="10808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Hacker News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4242816"/>
            <a:ext cx="1080821" cy="365760"/>
          </a:xfrm>
          <a:prstGeom prst="roundRect">
            <a:avLst>
              <a:gd name="adj" fmla="val 50000"/>
            </a:avLst>
          </a:prstGeom>
          <a:solidFill>
            <a:srgbClr val="15233F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4242816"/>
            <a:ext cx="10808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/ Twitter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794053" y="4242816"/>
            <a:ext cx="1380744" cy="365760"/>
          </a:xfrm>
          <a:prstGeom prst="roundRect">
            <a:avLst>
              <a:gd name="adj" fmla="val 50000"/>
            </a:avLst>
          </a:prstGeom>
          <a:solidFill>
            <a:srgbClr val="15233F"/>
          </a:solidFill>
          <a:ln/>
        </p:spPr>
      </p:sp>
      <p:sp>
        <p:nvSpPr>
          <p:cNvPr id="38" name="Text 36"/>
          <p:cNvSpPr/>
          <p:nvPr/>
        </p:nvSpPr>
        <p:spPr>
          <a:xfrm>
            <a:off x="1794053" y="4242816"/>
            <a:ext cx="1380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Groups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339389" y="4242816"/>
            <a:ext cx="705917" cy="365760"/>
          </a:xfrm>
          <a:prstGeom prst="roundRect">
            <a:avLst>
              <a:gd name="adj" fmla="val 50000"/>
            </a:avLst>
          </a:prstGeom>
          <a:solidFill>
            <a:srgbClr val="15233F"/>
          </a:solidFill>
          <a:ln/>
        </p:spPr>
      </p:sp>
      <p:sp>
        <p:nvSpPr>
          <p:cNvPr id="40" name="Text 38"/>
          <p:cNvSpPr/>
          <p:nvPr/>
        </p:nvSpPr>
        <p:spPr>
          <a:xfrm>
            <a:off x="3339389" y="4242816"/>
            <a:ext cx="7059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209898" y="4242816"/>
            <a:ext cx="780898" cy="365760"/>
          </a:xfrm>
          <a:prstGeom prst="roundRect">
            <a:avLst>
              <a:gd name="adj" fmla="val 50000"/>
            </a:avLst>
          </a:prstGeom>
          <a:solidFill>
            <a:srgbClr val="15233F"/>
          </a:solidFill>
          <a:ln/>
        </p:spPr>
      </p:sp>
      <p:sp>
        <p:nvSpPr>
          <p:cNvPr id="42" name="Text 40"/>
          <p:cNvSpPr/>
          <p:nvPr/>
        </p:nvSpPr>
        <p:spPr>
          <a:xfrm>
            <a:off x="4209898" y="4242816"/>
            <a:ext cx="780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Behance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155387" y="4242816"/>
            <a:ext cx="855878" cy="365760"/>
          </a:xfrm>
          <a:prstGeom prst="roundRect">
            <a:avLst>
              <a:gd name="adj" fmla="val 50000"/>
            </a:avLst>
          </a:prstGeom>
          <a:solidFill>
            <a:srgbClr val="15233F"/>
          </a:solidFill>
          <a:ln/>
        </p:spPr>
      </p:sp>
      <p:sp>
        <p:nvSpPr>
          <p:cNvPr id="44" name="Text 42"/>
          <p:cNvSpPr/>
          <p:nvPr/>
        </p:nvSpPr>
        <p:spPr>
          <a:xfrm>
            <a:off x="5155387" y="4242816"/>
            <a:ext cx="855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Dribbble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175858" y="4242816"/>
            <a:ext cx="930859" cy="365760"/>
          </a:xfrm>
          <a:prstGeom prst="roundRect">
            <a:avLst>
              <a:gd name="adj" fmla="val 50000"/>
            </a:avLst>
          </a:prstGeom>
          <a:solidFill>
            <a:srgbClr val="15233F"/>
          </a:solidFill>
          <a:ln/>
        </p:spPr>
      </p:sp>
      <p:sp>
        <p:nvSpPr>
          <p:cNvPr id="46" name="Text 44"/>
          <p:cNvSpPr/>
          <p:nvPr/>
        </p:nvSpPr>
        <p:spPr>
          <a:xfrm>
            <a:off x="6175858" y="4242816"/>
            <a:ext cx="9308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Wellfound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48640" y="4983480"/>
            <a:ext cx="11091672" cy="1143000"/>
          </a:xfrm>
          <a:prstGeom prst="roundRect">
            <a:avLst>
              <a:gd name="adj" fmla="val 7200"/>
            </a:avLst>
          </a:prstGeom>
          <a:solidFill>
            <a:srgbClr val="1C2D52"/>
          </a:solidFill>
          <a:ln/>
        </p:spPr>
      </p:sp>
      <p:sp>
        <p:nvSpPr>
          <p:cNvPr id="48" name="Text 46"/>
          <p:cNvSpPr/>
          <p:nvPr/>
        </p:nvSpPr>
        <p:spPr>
          <a:xfrm>
            <a:off x="868680" y="51389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AI-CLASSIFIED, PLAIN-LANGUAGE CONFIDENCE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68680" y="544068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15233F"/>
          </a:solidFill>
          <a:ln w="12700">
            <a:solidFill>
              <a:srgbClr val="2ED47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8680" y="5440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D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· 75–100%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560320" y="54406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on it directly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480560" y="544068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15233F"/>
          </a:solidFill>
          <a:ln w="12700">
            <a:solidFill>
              <a:srgbClr val="3E8B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80560" y="5440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E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· 55–74%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172200" y="54406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check, then act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092440" y="544068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15233F"/>
          </a:solidFill>
          <a:ln w="12700">
            <a:solidFill>
              <a:srgbClr val="96A5C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092440" y="5440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· under 55%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9784080" y="54406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before outreach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868680" y="5815584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lead shows its source, the AI's written reasoning, and multi-source confirmation — exportable to CSV.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Controva Intelligence Platform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143000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· PRODUCT HUNTER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a niche. Get verified products worth selling.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55064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36776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it a niche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929384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“home fitness”, “pet accessories” — any market, 8 countries.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52344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715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scans the market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3044952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Shopping, Amazon, live eBay listings, best-seller reports, Google Trends.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867912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83133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product verified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41605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candidate is cross-checked against real live listings. Unverifiable ideas are dropped — never shown with a guessed score.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01768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983480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494690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like a pro buyer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527608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0–100 score across demand, competition, margin and trend — with a BUY / TEST / AVOID verdict.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75120" y="1691640"/>
            <a:ext cx="4983480" cy="4434840"/>
          </a:xfrm>
          <a:prstGeom prst="roundRect">
            <a:avLst>
              <a:gd name="adj" fmla="val 1856"/>
            </a:avLst>
          </a:prstGeom>
          <a:solidFill>
            <a:srgbClr val="15233F"/>
          </a:solidFill>
          <a:ln/>
        </p:spPr>
      </p:sp>
      <p:sp>
        <p:nvSpPr>
          <p:cNvPr id="21" name="Text 19"/>
          <p:cNvSpPr/>
          <p:nvPr/>
        </p:nvSpPr>
        <p:spPr>
          <a:xfrm>
            <a:off x="6995160" y="190195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RESULT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95160" y="219456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  Resistance Bands Set (door anchor)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995160" y="2615184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1D4034"/>
          </a:solidFill>
          <a:ln/>
        </p:spPr>
      </p:sp>
      <p:sp>
        <p:nvSpPr>
          <p:cNvPr id="24" name="Text 22"/>
          <p:cNvSpPr/>
          <p:nvPr/>
        </p:nvSpPr>
        <p:spPr>
          <a:xfrm>
            <a:off x="6995160" y="261518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D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92440" y="254203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D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pPr indent="0" marL="0">
              <a:buNone/>
            </a:pPr>
            <a:r>
              <a:rPr lang="en-US" sz="120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100  —  Strong opportunity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995160" y="320040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75320" y="3264408"/>
            <a:ext cx="2377440" cy="146304"/>
          </a:xfrm>
          <a:prstGeom prst="roundRect">
            <a:avLst>
              <a:gd name="adj" fmla="val 50000"/>
            </a:avLst>
          </a:prstGeom>
          <a:solidFill>
            <a:srgbClr val="1C2D52"/>
          </a:solidFill>
          <a:ln/>
        </p:spPr>
      </p:sp>
      <p:sp>
        <p:nvSpPr>
          <p:cNvPr id="28" name="Shape 26"/>
          <p:cNvSpPr/>
          <p:nvPr/>
        </p:nvSpPr>
        <p:spPr>
          <a:xfrm>
            <a:off x="8275320" y="3264408"/>
            <a:ext cx="2218944" cy="146304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29" name="Text 27"/>
          <p:cNvSpPr/>
          <p:nvPr/>
        </p:nvSpPr>
        <p:spPr>
          <a:xfrm>
            <a:off x="10744200" y="320040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28/30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995160" y="365760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75320" y="3721608"/>
            <a:ext cx="2377440" cy="146304"/>
          </a:xfrm>
          <a:prstGeom prst="roundRect">
            <a:avLst>
              <a:gd name="adj" fmla="val 50000"/>
            </a:avLst>
          </a:prstGeom>
          <a:solidFill>
            <a:srgbClr val="1C2D52"/>
          </a:solidFill>
          <a:ln/>
        </p:spPr>
      </p:sp>
      <p:sp>
        <p:nvSpPr>
          <p:cNvPr id="32" name="Shape 30"/>
          <p:cNvSpPr/>
          <p:nvPr/>
        </p:nvSpPr>
        <p:spPr>
          <a:xfrm>
            <a:off x="8275320" y="3721608"/>
            <a:ext cx="2092147" cy="146304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33" name="Text 31"/>
          <p:cNvSpPr/>
          <p:nvPr/>
        </p:nvSpPr>
        <p:spPr>
          <a:xfrm>
            <a:off x="10744200" y="365760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22/25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995160" y="411480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75320" y="4178808"/>
            <a:ext cx="2377440" cy="146304"/>
          </a:xfrm>
          <a:prstGeom prst="roundRect">
            <a:avLst>
              <a:gd name="adj" fmla="val 50000"/>
            </a:avLst>
          </a:prstGeom>
          <a:solidFill>
            <a:srgbClr val="1C2D52"/>
          </a:solidFill>
          <a:ln/>
        </p:spPr>
      </p:sp>
      <p:sp>
        <p:nvSpPr>
          <p:cNvPr id="36" name="Shape 34"/>
          <p:cNvSpPr/>
          <p:nvPr/>
        </p:nvSpPr>
        <p:spPr>
          <a:xfrm>
            <a:off x="8275320" y="4178808"/>
            <a:ext cx="2377440" cy="146304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37" name="Text 35"/>
          <p:cNvSpPr/>
          <p:nvPr/>
        </p:nvSpPr>
        <p:spPr>
          <a:xfrm>
            <a:off x="10744200" y="411480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25/25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995160" y="457200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275320" y="4636008"/>
            <a:ext cx="2377440" cy="146304"/>
          </a:xfrm>
          <a:prstGeom prst="roundRect">
            <a:avLst>
              <a:gd name="adj" fmla="val 50000"/>
            </a:avLst>
          </a:prstGeom>
          <a:solidFill>
            <a:srgbClr val="1C2D52"/>
          </a:solidFill>
          <a:ln/>
        </p:spPr>
      </p:sp>
      <p:sp>
        <p:nvSpPr>
          <p:cNvPr id="40" name="Shape 38"/>
          <p:cNvSpPr/>
          <p:nvPr/>
        </p:nvSpPr>
        <p:spPr>
          <a:xfrm>
            <a:off x="8275320" y="4636008"/>
            <a:ext cx="2377440" cy="146304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41" name="Text 39"/>
          <p:cNvSpPr/>
          <p:nvPr/>
        </p:nvSpPr>
        <p:spPr>
          <a:xfrm>
            <a:off x="10744200" y="457200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20/20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995160" y="507492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$25.81  ·  Est. 150–300 units/mo
</a:t>
            </a:r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B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via: Google Shopping · eBay live listings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995160" y="5760720"/>
            <a:ext cx="4343400" cy="0"/>
          </a:xfrm>
          <a:prstGeom prst="line">
            <a:avLst/>
          </a:prstGeom>
          <a:noFill/>
          <a:ln w="12700">
            <a:solidFill>
              <a:srgbClr val="2A3B6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95160" y="581558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run ≈ half a cent in API credits. Re-opening it later: free.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Controva Intelligence Platform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43000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AROUND THE CORE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more modules in the same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75304" cy="1874520"/>
          </a:xfrm>
          <a:prstGeom prst="roundRect">
            <a:avLst>
              <a:gd name="adj" fmla="val 4390"/>
            </a:avLst>
          </a:prstGeom>
          <a:solidFill>
            <a:srgbClr val="15233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47672"/>
            <a:ext cx="502920" cy="5029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9384"/>
            <a:ext cx="685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9933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Research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41248" y="260604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eBay sold-price history, price sweet spots, market verdicts for any single product.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06824" y="1691640"/>
            <a:ext cx="3575304" cy="1874520"/>
          </a:xfrm>
          <a:prstGeom prst="roundRect">
            <a:avLst>
              <a:gd name="adj" fmla="val 4390"/>
            </a:avLst>
          </a:prstGeom>
          <a:solidFill>
            <a:srgbClr val="15233F"/>
          </a:solidFill>
          <a:ln/>
        </p:spPr>
      </p:sp>
      <p:sp>
        <p:nvSpPr>
          <p:cNvPr id="10" name="Shape 8"/>
          <p:cNvSpPr/>
          <p:nvPr/>
        </p:nvSpPr>
        <p:spPr>
          <a:xfrm>
            <a:off x="4581144" y="1947672"/>
            <a:ext cx="502920" cy="502920"/>
          </a:xfrm>
          <a:prstGeom prst="ellipse">
            <a:avLst/>
          </a:prstGeom>
          <a:solidFill>
            <a:srgbClr val="3E8BFF"/>
          </a:solidFill>
          <a:ln/>
        </p:spPr>
      </p:sp>
      <p:sp>
        <p:nvSpPr>
          <p:cNvPr id="11" name="Text 9"/>
          <p:cNvSpPr/>
          <p:nvPr/>
        </p:nvSpPr>
        <p:spPr>
          <a:xfrm>
            <a:off x="4489704" y="1929384"/>
            <a:ext cx="685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66944" y="19933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&amp; Keywords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99432" y="260604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research, SERP analysis, People-Also-Ask, Google Trends.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65008" y="1691640"/>
            <a:ext cx="3575304" cy="1874520"/>
          </a:xfrm>
          <a:prstGeom prst="roundRect">
            <a:avLst>
              <a:gd name="adj" fmla="val 4390"/>
            </a:avLst>
          </a:prstGeom>
          <a:solidFill>
            <a:srgbClr val="15233F"/>
          </a:solidFill>
          <a:ln/>
        </p:spPr>
      </p:sp>
      <p:sp>
        <p:nvSpPr>
          <p:cNvPr id="15" name="Shape 13"/>
          <p:cNvSpPr/>
          <p:nvPr/>
        </p:nvSpPr>
        <p:spPr>
          <a:xfrm>
            <a:off x="8339328" y="1947672"/>
            <a:ext cx="502920" cy="502920"/>
          </a:xfrm>
          <a:prstGeom prst="ellipse">
            <a:avLst/>
          </a:prstGeom>
          <a:solidFill>
            <a:srgbClr val="9B6B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47888" y="1929384"/>
            <a:ext cx="685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25128" y="19933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Intel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357616" y="260604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stack, social profiles, backlinks, site history for any domain.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575304" cy="1874520"/>
          </a:xfrm>
          <a:prstGeom prst="roundRect">
            <a:avLst>
              <a:gd name="adj" fmla="val 4390"/>
            </a:avLst>
          </a:prstGeom>
          <a:solidFill>
            <a:srgbClr val="15233F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050792"/>
            <a:ext cx="502920" cy="502920"/>
          </a:xfrm>
          <a:prstGeom prst="ellipse">
            <a:avLst/>
          </a:prstGeom>
          <a:solidFill>
            <a:srgbClr val="2ED47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032504"/>
            <a:ext cx="685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40965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Finder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41248" y="470916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Decision-maker discovery — a built-in, no-subscription Apollo alternative.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06824" y="3794760"/>
            <a:ext cx="3575304" cy="1874520"/>
          </a:xfrm>
          <a:prstGeom prst="roundRect">
            <a:avLst>
              <a:gd name="adj" fmla="val 4390"/>
            </a:avLst>
          </a:prstGeom>
          <a:solidFill>
            <a:srgbClr val="15233F"/>
          </a:solidFill>
          <a:ln/>
        </p:spPr>
      </p:sp>
      <p:sp>
        <p:nvSpPr>
          <p:cNvPr id="25" name="Shape 23"/>
          <p:cNvSpPr/>
          <p:nvPr/>
        </p:nvSpPr>
        <p:spPr>
          <a:xfrm>
            <a:off x="4581144" y="4050792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6" name="Text 24"/>
          <p:cNvSpPr/>
          <p:nvPr/>
        </p:nvSpPr>
        <p:spPr>
          <a:xfrm>
            <a:off x="4489704" y="4032504"/>
            <a:ext cx="685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66944" y="40965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Scout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599432" y="470916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presence across Instagram, TikTok and YouTube.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65008" y="3794760"/>
            <a:ext cx="3575304" cy="1874520"/>
          </a:xfrm>
          <a:prstGeom prst="roundRect">
            <a:avLst>
              <a:gd name="adj" fmla="val 4390"/>
            </a:avLst>
          </a:prstGeom>
          <a:solidFill>
            <a:srgbClr val="15233F"/>
          </a:solidFill>
          <a:ln/>
        </p:spPr>
      </p:sp>
      <p:sp>
        <p:nvSpPr>
          <p:cNvPr id="30" name="Shape 28"/>
          <p:cNvSpPr/>
          <p:nvPr/>
        </p:nvSpPr>
        <p:spPr>
          <a:xfrm>
            <a:off x="8339328" y="4050792"/>
            <a:ext cx="502920" cy="502920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31" name="Text 29"/>
          <p:cNvSpPr/>
          <p:nvPr/>
        </p:nvSpPr>
        <p:spPr>
          <a:xfrm>
            <a:off x="8247888" y="4032504"/>
            <a:ext cx="685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025128" y="40965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357616" y="470916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stages, reply rates, score distribution, leads per day.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806440"/>
            <a:ext cx="11091672" cy="502920"/>
          </a:xfrm>
          <a:prstGeom prst="roundRect">
            <a:avLst>
              <a:gd name="adj" fmla="val 16364"/>
            </a:avLst>
          </a:prstGeom>
          <a:solidFill>
            <a:srgbClr val="1C2D52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58064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modules share one lead database — a business found by Intent Search flows straight into enrichment, scoring and outreach.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Controva Intelligence Platform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YOUR CLIENTS SAVE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the stack, keep the capability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977640" y="15727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TOOL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766560" y="15727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PRICE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03920" y="15727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CONTROVA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69948"/>
            <a:ext cx="11274552" cy="429768"/>
          </a:xfrm>
          <a:prstGeom prst="roundRect">
            <a:avLst>
              <a:gd name="adj" fmla="val 10638"/>
            </a:avLst>
          </a:prstGeom>
          <a:solidFill>
            <a:srgbClr val="15233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83664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data &amp; prospecting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77640" y="1883664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Apollo.io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66560" y="1883664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$99/mo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03920" y="1883664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D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2ED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340864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finding &amp; verification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77640" y="2340864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Hunter.io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66560" y="2340864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$99/mo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03920" y="2340864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D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2ED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784348"/>
            <a:ext cx="11274552" cy="429768"/>
          </a:xfrm>
          <a:prstGeom prst="roundRect">
            <a:avLst>
              <a:gd name="adj" fmla="val 10638"/>
            </a:avLst>
          </a:prstGeom>
          <a:solidFill>
            <a:srgbClr val="15233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798064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&amp; competitor intel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77640" y="2798064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Semrush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66560" y="2798064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$119/mo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03920" y="2798064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D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2ED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255264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&amp; traffic data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77640" y="3255264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SimilarWeb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0" y="3255264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$149/mo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03920" y="3255264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D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2ED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698748"/>
            <a:ext cx="11274552" cy="429768"/>
          </a:xfrm>
          <a:prstGeom prst="roundRect">
            <a:avLst>
              <a:gd name="adj" fmla="val 10638"/>
            </a:avLst>
          </a:prstGeom>
          <a:solidFill>
            <a:srgbClr val="15233F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712464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outreach &amp; tracking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77640" y="3712464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Lemlist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66560" y="3712464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$129/mo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03920" y="3712464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D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2ED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4169664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prospecting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77640" y="4169664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Navigator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66560" y="4169664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$79/mo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03920" y="4169664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D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2ED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613148"/>
            <a:ext cx="11274552" cy="429768"/>
          </a:xfrm>
          <a:prstGeom prst="roundRect">
            <a:avLst>
              <a:gd name="adj" fmla="val 10638"/>
            </a:avLst>
          </a:prstGeom>
          <a:solidFill>
            <a:srgbClr val="15233F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4626864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product research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977640" y="4626864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Jungle Scout / Helium 10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66560" y="4626864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$49–99/mo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503920" y="4626864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D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2ED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5257800"/>
            <a:ext cx="11274552" cy="1051560"/>
          </a:xfrm>
          <a:prstGeom prst="roundRect">
            <a:avLst>
              <a:gd name="adj" fmla="val 7826"/>
            </a:avLst>
          </a:prstGeom>
          <a:solidFill>
            <a:srgbClr val="1C2D52"/>
          </a:solidFill>
          <a:ln/>
        </p:spPr>
      </p:sp>
      <p:sp>
        <p:nvSpPr>
          <p:cNvPr id="41" name="Text 39"/>
          <p:cNvSpPr/>
          <p:nvPr/>
        </p:nvSpPr>
        <p:spPr>
          <a:xfrm>
            <a:off x="868680" y="525780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$723+ /mo</a:t>
            </a:r>
            <a:pPr indent="0" marL="0">
              <a:buNone/>
            </a:pPr>
            <a:r>
              <a:rPr lang="en-US" sz="120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the old stack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4846320" y="525780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5577840" y="5257800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D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$50 /mo</a:t>
            </a:r>
            <a:pPr indent="0" marL="0">
              <a:buNone/>
            </a:pPr>
            <a:r>
              <a:rPr lang="en-US" sz="120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all-in with Controva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9646920" y="5257800"/>
            <a:ext cx="1920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
</a:t>
            </a:r>
            <a:pPr algn="r" indent="0" marL="0">
              <a:buNone/>
            </a:pPr>
            <a:r>
              <a:rPr lang="en-US" sz="2100" b="1" dirty="0">
                <a:solidFill>
                  <a:srgbClr val="2ED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$8,000+/yr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" y="638251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published monthly pricing, mid-2026, entry business tiers. Controva cost = your VPS + pay-as-you-go API credits.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43000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 by design, not by discount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04688" cy="1828800"/>
          </a:xfrm>
          <a:prstGeom prst="roundRect">
            <a:avLst>
              <a:gd name="adj" fmla="val 4500"/>
            </a:avLst>
          </a:prstGeom>
          <a:solidFill>
            <a:srgbClr val="15233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502920" cy="5029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83664"/>
            <a:ext cx="685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08760" y="19476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Free-first data waterfall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41248" y="2542032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free APIs are always tried first — eBay (5,000 calls/day), HERE Maps (250k/mo), OpenStreetMap, Gemini free tier. Paid scrapers are the last-resort fallback, never the default.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6208" y="1645920"/>
            <a:ext cx="5504688" cy="1828800"/>
          </a:xfrm>
          <a:prstGeom prst="roundRect">
            <a:avLst>
              <a:gd name="adj" fmla="val 4500"/>
            </a:avLst>
          </a:prstGeom>
          <a:solidFill>
            <a:srgbClr val="15233F"/>
          </a:solidFill>
          <a:ln/>
        </p:spPr>
      </p:sp>
      <p:sp>
        <p:nvSpPr>
          <p:cNvPr id="10" name="Shape 8"/>
          <p:cNvSpPr/>
          <p:nvPr/>
        </p:nvSpPr>
        <p:spPr>
          <a:xfrm>
            <a:off x="6510528" y="1901952"/>
            <a:ext cx="502920" cy="502920"/>
          </a:xfrm>
          <a:prstGeom prst="ellipse">
            <a:avLst/>
          </a:prstGeom>
          <a:solidFill>
            <a:srgbClr val="2ED47F"/>
          </a:solidFill>
          <a:ln/>
        </p:spPr>
      </p:sp>
      <p:sp>
        <p:nvSpPr>
          <p:cNvPr id="11" name="Text 9"/>
          <p:cNvSpPr/>
          <p:nvPr/>
        </p:nvSpPr>
        <p:spPr>
          <a:xfrm>
            <a:off x="6419088" y="1883664"/>
            <a:ext cx="685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196328" y="19476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Caching that pays you back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28816" y="2542032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search result is stored. Repeat a query and it returns instantly at zero cost — with a visible “cached — 0 credits” badge and a credit meter on every run.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504688" cy="1828800"/>
          </a:xfrm>
          <a:prstGeom prst="roundRect">
            <a:avLst>
              <a:gd name="adj" fmla="val 4500"/>
            </a:avLst>
          </a:prstGeom>
          <a:solidFill>
            <a:srgbClr val="15233F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3913632"/>
            <a:ext cx="502920" cy="502920"/>
          </a:xfrm>
          <a:prstGeom prst="ellipse">
            <a:avLst/>
          </a:prstGeom>
          <a:solidFill>
            <a:srgbClr val="3E8BF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895344"/>
            <a:ext cx="685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08760" y="395935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 infrastructure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41248" y="4553712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database, cache and scraper run on your own $7–15/mo server. There is no SaaS margin between you and your data.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6208" y="3657600"/>
            <a:ext cx="5504688" cy="1828800"/>
          </a:xfrm>
          <a:prstGeom prst="roundRect">
            <a:avLst>
              <a:gd name="adj" fmla="val 4500"/>
            </a:avLst>
          </a:prstGeom>
          <a:solidFill>
            <a:srgbClr val="15233F"/>
          </a:solidFill>
          <a:ln/>
        </p:spPr>
      </p:sp>
      <p:sp>
        <p:nvSpPr>
          <p:cNvPr id="20" name="Shape 18"/>
          <p:cNvSpPr/>
          <p:nvPr/>
        </p:nvSpPr>
        <p:spPr>
          <a:xfrm>
            <a:off x="6510528" y="3913632"/>
            <a:ext cx="502920" cy="502920"/>
          </a:xfrm>
          <a:prstGeom prst="ellipse">
            <a:avLst/>
          </a:prstGeom>
          <a:solidFill>
            <a:srgbClr val="9B6B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19088" y="3895344"/>
            <a:ext cx="685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196328" y="395935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Per-server, not per-seat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528816" y="4553712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flat-cost server, unlimited teammates, unlimited leads and searches. Your costs stay flat while your pipeline grows.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669280"/>
            <a:ext cx="11091672" cy="658368"/>
          </a:xfrm>
          <a:prstGeom prst="roundRect">
            <a:avLst>
              <a:gd name="adj" fmla="val 12500"/>
            </a:avLst>
          </a:prstGeom>
          <a:solidFill>
            <a:srgbClr val="1C2D52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66928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numbers:  </a:t>
            </a:r>
            <a:pPr indent="0" marL="0">
              <a:buNone/>
            </a:pPr>
            <a:r>
              <a:rPr lang="en-US" sz="130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product hunt ≈ half a cent · a 131-lead discovery run ≈ a few cents · re-opening any past result — </a:t>
            </a:r>
            <a:pPr indent="0" marL="0">
              <a:buNone/>
            </a:pPr>
            <a:r>
              <a:rPr lang="en-US" sz="1300" b="1" dirty="0">
                <a:solidFill>
                  <a:srgbClr val="2ED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Controva Intelligence Platform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 by policy. Yours by architecture.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ACCURACY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2ED47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993392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965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Verified-only results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88720" y="2295144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hunted product is cross-checked against live eBay, Amazon or Google Shopping listings before you see it. Unverifiable = dropped.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2ED47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364992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3337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provenance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88720" y="3666744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result lists exactly where it was found. When a source is blocked, it says “data unavailable” — never a fake zero.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2ED47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736592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Plain-language scores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88720" y="5038344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Banded labels (Strong / Test / Avoid, High / Medium / Low) with built-in legends — the same conventions as Jungle Scout and Apollo.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0" y="1554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OWNERSHIP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2011680"/>
            <a:ext cx="457200" cy="457200"/>
          </a:xfrm>
          <a:prstGeom prst="ellipse">
            <a:avLst/>
          </a:prstGeom>
          <a:solidFill>
            <a:srgbClr val="3E8BFF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993392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40880" y="1965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server, your data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040880" y="2295144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Leads, contacts and history live in your own database. Export everything, any time.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0" y="3383280"/>
            <a:ext cx="457200" cy="457200"/>
          </a:xfrm>
          <a:prstGeom prst="ellipse">
            <a:avLst/>
          </a:prstGeom>
          <a:solidFill>
            <a:srgbClr val="3E8BFF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3364992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40880" y="3337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API keys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040880" y="3666744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your own keys, swap providers freely, watch usage from the dashboard.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0" y="4754880"/>
            <a:ext cx="457200" cy="457200"/>
          </a:xfrm>
          <a:prstGeom prst="ellipse">
            <a:avLst/>
          </a:prstGeom>
          <a:solidFill>
            <a:srgbClr val="3E8BFF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4736592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4088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lock-in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040880" y="5038344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software you run, not a subscription you rent. Stop paying a vendor and nothing disappears.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Controva Intelligence Platform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206240" cy="4206240"/>
          </a:xfrm>
          <a:prstGeom prst="ellipse">
            <a:avLst/>
          </a:prstGeom>
          <a:ln w="19050">
            <a:solidFill>
              <a:srgbClr val="1B2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-2194560"/>
            <a:ext cx="4572000" cy="4572000"/>
          </a:xfrm>
          <a:prstGeom prst="ellipse">
            <a:avLst/>
          </a:prstGeom>
          <a:ln w="19050">
            <a:solidFill>
              <a:srgbClr val="1B2C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914400"/>
            <a:ext cx="777240" cy="777240"/>
          </a:xfrm>
          <a:prstGeom prst="roundRect">
            <a:avLst>
              <a:gd name="adj" fmla="val 21176"/>
            </a:avLst>
          </a:prstGeom>
          <a:solidFill>
            <a:srgbClr val="9B6BF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89611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 One server.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growth signal.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777240" y="4069080"/>
            <a:ext cx="3017520" cy="1051560"/>
          </a:xfrm>
          <a:prstGeom prst="roundRect">
            <a:avLst>
              <a:gd name="adj" fmla="val 7826"/>
            </a:avLst>
          </a:prstGeom>
          <a:solidFill>
            <a:srgbClr val="15233F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422452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D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$50/mo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46451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all-in running cost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69080" y="4069080"/>
            <a:ext cx="3017520" cy="1051560"/>
          </a:xfrm>
          <a:prstGeom prst="roundRect">
            <a:avLst>
              <a:gd name="adj" fmla="val 7826"/>
            </a:avLst>
          </a:prstGeom>
          <a:solidFill>
            <a:srgbClr val="15233F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422452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7+ tools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343400" y="46451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replaced in one dashboard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60920" y="4069080"/>
            <a:ext cx="3017520" cy="1051560"/>
          </a:xfrm>
          <a:prstGeom prst="roundRect">
            <a:avLst>
              <a:gd name="adj" fmla="val 7826"/>
            </a:avLst>
          </a:prstGeom>
          <a:solidFill>
            <a:srgbClr val="15233F"/>
          </a:solidFill>
          <a:ln/>
        </p:spPr>
      </p:sp>
      <p:sp>
        <p:nvSpPr>
          <p:cNvPr id="14" name="Text 12"/>
          <p:cNvSpPr/>
          <p:nvPr/>
        </p:nvSpPr>
        <p:spPr>
          <a:xfrm>
            <a:off x="7635240" y="422452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$8,000+/yr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635240" y="46451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in your budget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5532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a live demo — </a:t>
            </a:r>
            <a:pPr indent="0" marL="0">
              <a:buNone/>
            </a:pPr>
            <a:r>
              <a:rPr lang="en-US" sz="1500" dirty="0">
                <a:solidFill>
                  <a:srgbClr val="96A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leads for your own market on screen in ten minutes.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Controva LLC  ·  Support@controvallc.com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2026-07-04T05:44:50Z</dcterms:created>
  <dcterms:modified xsi:type="dcterms:W3CDTF">2026-07-04T05:44:50Z</dcterms:modified>
</cp:coreProperties>
</file>